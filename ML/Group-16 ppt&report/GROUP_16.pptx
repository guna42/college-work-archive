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59" r:id="rId6"/>
    <p:sldId id="261" r:id="rId7"/>
    <p:sldId id="260" r:id="rId8"/>
    <p:sldId id="262" r:id="rId9"/>
    <p:sldId id="267" r:id="rId10"/>
    <p:sldId id="266" r:id="rId11"/>
    <p:sldId id="265" r:id="rId12"/>
  </p:sldIdLst>
  <p:sldSz cx="14630400" cy="8229600"/>
  <p:notesSz cx="8229600" cy="14630400"/>
  <p:embeddedFontLst>
    <p:embeddedFont>
      <p:font typeface="Funnel Sans" panose="020B0604020202020204" charset="0"/>
      <p:regular r:id="rId14"/>
    </p:embeddedFont>
    <p:embeddedFont>
      <p:font typeface="Mona Sans Semi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6409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AEEC9-8FDD-32ED-AED1-532A7344C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D08A6-4152-8852-5639-62FFC77AB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55292B-083C-0D64-CD3E-061FB040F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E0DFE-7A1F-945C-119F-AFEFBB72D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84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2403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STUDENT PERFORMANCE PREDICTION USING LINEAR REGRESSION</a:t>
            </a:r>
            <a:b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</a:b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80655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TEAM:</a:t>
            </a:r>
            <a:b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</a:b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Guna Vardhan Byraju[AP23110010744]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52586B"/>
                </a:solidFill>
                <a:latin typeface="Funnel Sans" pitchFamily="34" charset="0"/>
              </a:rPr>
              <a:t>Jesweer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</a:rPr>
              <a:t>  </a:t>
            </a:r>
            <a:r>
              <a:rPr lang="en-US" sz="1750" dirty="0" err="1">
                <a:solidFill>
                  <a:srgbClr val="52586B"/>
                </a:solidFill>
                <a:latin typeface="Funnel Sans" pitchFamily="34" charset="0"/>
              </a:rPr>
              <a:t>Kalakonda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</a:rPr>
              <a:t>[AP23110010054]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</a:rPr>
              <a:t>Sai Sumanth Oruganti[AP23110010786</a:t>
            </a:r>
            <a:r>
              <a:rPr lang="en-US" sz="1750">
                <a:solidFill>
                  <a:srgbClr val="52586B"/>
                </a:solidFill>
                <a:latin typeface="Funnel Sans" pitchFamily="34" charset="0"/>
              </a:rPr>
              <a:t>] 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13773D-394A-BF58-89C7-834D08A62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6523" y="7638970"/>
            <a:ext cx="2715004" cy="5715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33A676-DEB7-F63C-EA09-A8CDF48AABAF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53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11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Introduction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732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project predicts the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final grade (G3)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of students.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154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Uses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academic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behavioral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and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family-related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attributes.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576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Implemented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Linear Regression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using both: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998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 Gradient Descent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420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Sklearn Regression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3211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Dataset Overview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39732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Total rows: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1000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4154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Total columns: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33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8576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Dataset: Portuguese Student Performance Dataset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2998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Target variable: G3 (Final Grade)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3D883C-5440-A5AD-D340-6E2170EC7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4623" y="7572335"/>
            <a:ext cx="2715004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353" y="423743"/>
            <a:ext cx="4508063" cy="48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9353" y="1290518"/>
            <a:ext cx="2311598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Preprocessing Steps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39353" y="1733550"/>
            <a:ext cx="6587847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Removed irrelevant or repeated columns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9353" y="2033945"/>
            <a:ext cx="6587847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Handled categorical values using </a:t>
            </a:r>
            <a:r>
              <a:rPr lang="en-US" sz="12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Label Encoding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9353" y="2334339"/>
            <a:ext cx="6587847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Created df_clean containing selected columns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353" y="2634734"/>
            <a:ext cx="6587847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Converted dataset into a fully numeric form (df_encoded)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353" y="2935129"/>
            <a:ext cx="6587847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Final dataset used: </a:t>
            </a:r>
            <a:r>
              <a:rPr lang="en-US" sz="12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19 numeric features</a:t>
            </a:r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endParaRPr lang="en-US" sz="1200" b="1" dirty="0">
              <a:solidFill>
                <a:srgbClr val="52586B"/>
              </a:solidFill>
              <a:latin typeface="Funnel Sans" pitchFamily="34" charset="0"/>
            </a:endParaRPr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endParaRPr lang="en-US" sz="1200" b="1" dirty="0">
              <a:solidFill>
                <a:srgbClr val="52586B"/>
              </a:solidFill>
              <a:latin typeface="Funnel Sans" pitchFamily="34" charset="0"/>
            </a:endParaRPr>
          </a:p>
          <a:p>
            <a:pPr algn="l">
              <a:lnSpc>
                <a:spcPts val="1900"/>
              </a:lnSpc>
              <a:buSzPct val="100000"/>
            </a:pPr>
            <a:endParaRPr lang="en-US" sz="1200" b="1" dirty="0">
              <a:solidFill>
                <a:srgbClr val="52586B"/>
              </a:solidFill>
              <a:latin typeface="Funnel Sans" pitchFamily="34" charset="0"/>
            </a:endParaRPr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endParaRPr lang="en-US" sz="1200" b="1" dirty="0">
              <a:solidFill>
                <a:srgbClr val="52586B"/>
              </a:solidFill>
              <a:latin typeface="Funnel Sans" pitchFamily="34" charset="0"/>
            </a:endParaRPr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endParaRPr lang="en-US" sz="1200" b="1" dirty="0">
              <a:solidFill>
                <a:srgbClr val="52586B"/>
              </a:solidFill>
              <a:latin typeface="Funnel Sans" pitchFamily="34" charset="0"/>
            </a:endParaRPr>
          </a:p>
          <a:p>
            <a:pPr algn="l">
              <a:lnSpc>
                <a:spcPts val="1900"/>
              </a:lnSpc>
              <a:buSzPct val="100000"/>
            </a:pPr>
            <a:r>
              <a:rPr lang="en-US" sz="1200" b="1" dirty="0">
                <a:solidFill>
                  <a:srgbClr val="52586B"/>
                </a:solidFill>
                <a:latin typeface="Funnel Sans" pitchFamily="34" charset="0"/>
              </a:rPr>
              <a:t>Before Encoding                                                                                                                                                              After Encoding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5024A7-4555-0423-EC66-45D7A5A35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31" y="4886193"/>
            <a:ext cx="6380170" cy="18862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116342-3E1D-3374-8D85-737443742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831" y="4886193"/>
            <a:ext cx="6901569" cy="1876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20703B-BCAF-B8AA-AD73-36C03433B0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5396" y="7581860"/>
            <a:ext cx="2715004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24563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MODEL 1: SIMPLE REGRESSION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3016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Features Used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88227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Studytime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32446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Absences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323016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Result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342721" y="388227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MSE: 9.93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(High)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4324469"/>
            <a:ext cx="3501509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MAE: 2.26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(High) </a:t>
            </a: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❌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Too simple → low accuracy </a:t>
            </a: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❌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Important predictors missing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EEA6A9-4448-9226-7CCD-AF3BD207E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896" y="1245632"/>
            <a:ext cx="2995784" cy="17528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BF0DFE-15D0-437C-5B58-50341F354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820" y="3806937"/>
            <a:ext cx="3115110" cy="28483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4C471E-9982-945A-3C7C-C6B105B394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5098" y="7581860"/>
            <a:ext cx="2715004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701397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MODEL 2: GRADIENT DESCENT REGRESSION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280190" y="2388275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Approach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6280190" y="2942511"/>
            <a:ext cx="3543062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Implemented </a:t>
            </a: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 gradient descent</a:t>
            </a: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from scratch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280190" y="3626644"/>
            <a:ext cx="35430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Initialized weights &amp; bias manually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80190" y="4002405"/>
            <a:ext cx="35430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Updated parameters using: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80190" y="4378166"/>
            <a:ext cx="35430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Cost function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80190" y="4753928"/>
            <a:ext cx="35430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Partial derivatives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80190" y="5129689"/>
            <a:ext cx="35430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Learning rate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301168" y="2388275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Results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0301168" y="2942511"/>
            <a:ext cx="35430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MSE: 1.72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301168" y="3318272"/>
            <a:ext cx="35430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MAE: 0.78</a:t>
            </a:r>
            <a:endParaRPr lang="en-US" sz="15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9076B96-6C68-6E4F-17FF-904DFCAE5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77" y="53212"/>
            <a:ext cx="5824922" cy="432495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0389E67-A91E-4E34-3F1D-516CBD167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65" y="4114800"/>
            <a:ext cx="5570945" cy="40403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6DB169-0EBF-BC85-9CE9-741E88C20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5694" y="7583600"/>
            <a:ext cx="2715004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3687" y="6850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FEATURE IMPORTANCE (FULL MODEL)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213687" y="148606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Top Features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213687" y="212940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G2 — Most important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213687" y="235338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213687" y="265432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Failures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213687" y="292893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Studytime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213687" y="322987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Traveltime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213685" y="350448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Absences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905482" y="149848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Conclusion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4806303" y="203032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Many features add noise → accuracy decreases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6302" y="300077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Strong features should be selected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ABAB17-57F5-03DA-484E-261763208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000" y="3805423"/>
            <a:ext cx="11012437" cy="41694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1257C1-868E-B3CD-6CFA-EB00CC20C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4514" y="7502356"/>
            <a:ext cx="2076631" cy="666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8985"/>
            <a:ext cx="5114925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CORRELATION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1367433"/>
            <a:ext cx="2449354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Heatmap Insights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71500" y="1836777"/>
            <a:ext cx="6544508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G2 (2nd Period Grade)</a:t>
            </a: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has the strongest correlation with G3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71500" y="2155031"/>
            <a:ext cx="6544508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G1</a:t>
            </a: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is also highly correlated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1500" y="2473285"/>
            <a:ext cx="6544508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Failures, Absences, Traveltime</a:t>
            </a: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negatively impact G3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1500" y="2791539"/>
            <a:ext cx="6544508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Studytime</a:t>
            </a: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slightly improves performance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1500" y="3109793"/>
            <a:ext cx="6544508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Alcohol consumption (</a:t>
            </a:r>
            <a:r>
              <a:rPr lang="en-US" sz="12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Walc, Dalc</a:t>
            </a: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 reduces performance</a:t>
            </a:r>
            <a:endParaRPr lang="en-US" sz="12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4A542F-31E2-2EE7-4E1A-941CCA5BC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523" y="1029500"/>
            <a:ext cx="8484827" cy="53633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4CCCF0-2F79-C4CA-9BCD-543603493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9238" y="7524657"/>
            <a:ext cx="2591162" cy="666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075" y="623173"/>
            <a:ext cx="7557849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MODEL 3: STRONG FEATURES REGRESSION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93075" y="2308503"/>
            <a:ext cx="3517344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Selected Strong Features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793075" y="2862143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Based on heatmap + importance graph: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93075" y="3343632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3075" y="3719155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3075" y="4094678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Studytime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3075" y="4470202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Failures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3075" y="4845725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Traveltime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3075" y="5221248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Absences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3075" y="5596771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Dalc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14530" y="2308503"/>
            <a:ext cx="2889290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Performance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4814530" y="2862143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MSE: 1.37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14530" y="3237667"/>
            <a:ext cx="3544014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MAE: 0.73</a:t>
            </a: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➡</a:t>
            </a: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Best-performing model</a:t>
            </a: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243CDC8-2DFE-6C88-01A4-9078FB508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969" y="3752225"/>
            <a:ext cx="7030431" cy="44773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E627D46-8EBD-0103-EBBA-27F5ABD36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525" y="265093"/>
            <a:ext cx="4445529" cy="32326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A6920-A7DC-8BAA-FA82-CEC452F08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FA2480C-C9E0-9AE8-3672-2B03D8F7AFD6}"/>
              </a:ext>
            </a:extLst>
          </p:cNvPr>
          <p:cNvSpPr/>
          <p:nvPr/>
        </p:nvSpPr>
        <p:spPr>
          <a:xfrm>
            <a:off x="793075" y="623173"/>
            <a:ext cx="7557849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MODEL 3: STRONG FEATURES REGRESSION</a:t>
            </a:r>
            <a:endParaRPr lang="en-US" sz="37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85174AD-A6B8-57FD-A365-FB1B9275FFFB}"/>
              </a:ext>
            </a:extLst>
          </p:cNvPr>
          <p:cNvSpPr/>
          <p:nvPr/>
        </p:nvSpPr>
        <p:spPr>
          <a:xfrm>
            <a:off x="793075" y="2308503"/>
            <a:ext cx="3517344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Selected Strong Features</a:t>
            </a:r>
            <a:endParaRPr lang="en-US" sz="22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AC09DC5-B1B7-A7DF-DA43-54C6C258371F}"/>
              </a:ext>
            </a:extLst>
          </p:cNvPr>
          <p:cNvSpPr/>
          <p:nvPr/>
        </p:nvSpPr>
        <p:spPr>
          <a:xfrm>
            <a:off x="793075" y="2862143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Based on heatmap + importance graph: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5D65F6F-FA7D-C267-5E12-CF478D89DFF0}"/>
              </a:ext>
            </a:extLst>
          </p:cNvPr>
          <p:cNvSpPr/>
          <p:nvPr/>
        </p:nvSpPr>
        <p:spPr>
          <a:xfrm>
            <a:off x="793075" y="3343632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G2</a:t>
            </a: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A9C1125-ED68-CFD8-DE9F-7390BB31C9B9}"/>
              </a:ext>
            </a:extLst>
          </p:cNvPr>
          <p:cNvSpPr/>
          <p:nvPr/>
        </p:nvSpPr>
        <p:spPr>
          <a:xfrm>
            <a:off x="793075" y="3719155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G1</a:t>
            </a:r>
            <a:endParaRPr lang="en-US" sz="1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7434F15-E30A-238E-A859-13213DC7F3FC}"/>
              </a:ext>
            </a:extLst>
          </p:cNvPr>
          <p:cNvSpPr/>
          <p:nvPr/>
        </p:nvSpPr>
        <p:spPr>
          <a:xfrm>
            <a:off x="793075" y="4094678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Studytime</a:t>
            </a:r>
            <a:endParaRPr lang="en-US" sz="1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7AB669D-CC3A-5E3B-6D0D-1F1C97CB14D6}"/>
              </a:ext>
            </a:extLst>
          </p:cNvPr>
          <p:cNvSpPr/>
          <p:nvPr/>
        </p:nvSpPr>
        <p:spPr>
          <a:xfrm>
            <a:off x="793075" y="4470202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Failures</a:t>
            </a:r>
            <a:endParaRPr lang="en-US" sz="15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81DF9F4-C907-458F-B604-CAA86CE6BD03}"/>
              </a:ext>
            </a:extLst>
          </p:cNvPr>
          <p:cNvSpPr/>
          <p:nvPr/>
        </p:nvSpPr>
        <p:spPr>
          <a:xfrm>
            <a:off x="793075" y="4845725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Traveltime</a:t>
            </a:r>
            <a:endParaRPr lang="en-US" sz="15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C7A61B6-043C-AF08-7883-38972237FC78}"/>
              </a:ext>
            </a:extLst>
          </p:cNvPr>
          <p:cNvSpPr/>
          <p:nvPr/>
        </p:nvSpPr>
        <p:spPr>
          <a:xfrm>
            <a:off x="793075" y="5221248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Absences</a:t>
            </a:r>
            <a:endParaRPr lang="en-US" sz="15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6E11CDF-D688-54A0-B687-37AB62E1868C}"/>
              </a:ext>
            </a:extLst>
          </p:cNvPr>
          <p:cNvSpPr/>
          <p:nvPr/>
        </p:nvSpPr>
        <p:spPr>
          <a:xfrm>
            <a:off x="793075" y="5596771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Dalc</a:t>
            </a:r>
            <a:endParaRPr lang="en-US" sz="15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18BF6D8-0EFB-818B-CEEF-3381011DCADA}"/>
              </a:ext>
            </a:extLst>
          </p:cNvPr>
          <p:cNvSpPr/>
          <p:nvPr/>
        </p:nvSpPr>
        <p:spPr>
          <a:xfrm>
            <a:off x="4814530" y="2308503"/>
            <a:ext cx="2889290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Performance</a:t>
            </a:r>
            <a:endParaRPr lang="en-US" sz="22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E50B5BF-FEFE-E2A3-8ECF-168FF4FEB3CF}"/>
              </a:ext>
            </a:extLst>
          </p:cNvPr>
          <p:cNvSpPr/>
          <p:nvPr/>
        </p:nvSpPr>
        <p:spPr>
          <a:xfrm>
            <a:off x="4814530" y="2862143"/>
            <a:ext cx="354401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MSE: 1.37</a:t>
            </a:r>
            <a:endParaRPr lang="en-US" sz="15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FE9109A-6719-FFB8-7385-746DC7767ADF}"/>
              </a:ext>
            </a:extLst>
          </p:cNvPr>
          <p:cNvSpPr/>
          <p:nvPr/>
        </p:nvSpPr>
        <p:spPr>
          <a:xfrm>
            <a:off x="4814530" y="3237667"/>
            <a:ext cx="3544014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MAE: 0.73</a:t>
            </a: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➡</a:t>
            </a: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Best-performing model</a:t>
            </a: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E17A2CE-894F-ED7F-157F-9884AEC80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969" y="3752225"/>
            <a:ext cx="7030431" cy="44773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D0820C9-4E23-B395-7400-B8900DAA1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525" y="265093"/>
            <a:ext cx="4445529" cy="32326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D55AE0F-ACFD-D544-0CB8-30C37CF6A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71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4737"/>
            <a:ext cx="62163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MODEL COMPARISON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554242"/>
            <a:ext cx="474737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Final Performance Summary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2319695"/>
            <a:ext cx="13042821" cy="2624137"/>
          </a:xfrm>
          <a:prstGeom prst="roundRect">
            <a:avLst>
              <a:gd name="adj" fmla="val 363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32731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581" y="2471023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2986445" y="247102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Features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591889" y="2471023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MSE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5943" y="2471023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499997" y="247102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Result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297763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581" y="3121343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 1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2986445" y="312134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591889" y="3121343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9.93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5943" y="3121343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2.26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499997" y="312134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</a:rPr>
              <a:t>Bad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362795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581" y="3771662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 2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2986445" y="377166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12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591889" y="3771662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1.72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45943" y="3771662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0.78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9499997" y="377166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Good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801410" y="4278273"/>
            <a:ext cx="13027581" cy="6579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28581" y="4421981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 3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2986445" y="442198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5591889" y="4421981"/>
            <a:ext cx="1492806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⭐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1.37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545943" y="4421981"/>
            <a:ext cx="1492806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⭐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0.73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9499997" y="4421981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BEST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93790" y="5283994"/>
            <a:ext cx="3402330" cy="448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🏆</a:t>
            </a: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Final Winner:</a:t>
            </a:r>
            <a:endParaRPr lang="en-US" sz="2650" dirty="0"/>
          </a:p>
        </p:txBody>
      </p:sp>
      <p:sp>
        <p:nvSpPr>
          <p:cNvPr id="30" name="Text 28"/>
          <p:cNvSpPr/>
          <p:nvPr/>
        </p:nvSpPr>
        <p:spPr>
          <a:xfrm>
            <a:off x="793790" y="5822871"/>
            <a:ext cx="634912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MODEL 3 — Strong Feature Regression</a:t>
            </a:r>
            <a:endParaRPr lang="en-US" sz="26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21DC7B4-D3CA-F22C-D4B3-C72D94B4E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4169" y="7553947"/>
            <a:ext cx="2591162" cy="6668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6474"/>
            <a:ext cx="88823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22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Conclusion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1943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Strong feature selection greatly improved accuracy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36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G2 and G1 are the strongest predictors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Gradient Descent and Sklearn gave similar trend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20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 3 is the best model for prediction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542228"/>
            <a:ext cx="364116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Future Enhancements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41943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Try Random Forest, XGBoost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636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Add Polynomial Regression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Deploy using Streamlit Web App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520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Hyperparameter tuning for more accuracy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8F2820-2A7B-F487-4DC2-46D81FCA0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238" y="7562757"/>
            <a:ext cx="2591162" cy="6668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441</Words>
  <Application>Microsoft Office PowerPoint</Application>
  <PresentationFormat>Custom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Mona Sans Semi Bold</vt:lpstr>
      <vt:lpstr>Funnel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Guna vardhan Byraju</cp:lastModifiedBy>
  <cp:revision>6</cp:revision>
  <dcterms:created xsi:type="dcterms:W3CDTF">2025-12-03T18:03:45Z</dcterms:created>
  <dcterms:modified xsi:type="dcterms:W3CDTF">2025-12-04T09:24:45Z</dcterms:modified>
</cp:coreProperties>
</file>