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4630400" cy="8229600"/>
  <p:notesSz cx="8229600" cy="14630400"/>
  <p:embeddedFontLs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IBM Plex Sans" panose="020B0503050203000203" pitchFamily="34" charset="0"/>
      <p:regular r:id="rId19"/>
    </p:embeddedFont>
    <p:embeddedFont>
      <p:font typeface="Outfit Medium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205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sv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7603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endParaRPr lang="en-US" sz="44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68CB29-B1A8-04BA-900A-6E22785C3F7A}"/>
              </a:ext>
            </a:extLst>
          </p:cNvPr>
          <p:cNvSpPr txBox="1"/>
          <p:nvPr/>
        </p:nvSpPr>
        <p:spPr>
          <a:xfrm>
            <a:off x="1817225" y="869291"/>
            <a:ext cx="106646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chemeClr val="accent5"/>
                </a:solidFill>
              </a:rPr>
              <a:t>Multi-Threaded</a:t>
            </a:r>
            <a:r>
              <a:rPr lang="en-US" sz="5400" dirty="0">
                <a:solidFill>
                  <a:schemeClr val="accent1"/>
                </a:solidFill>
              </a:rPr>
              <a:t> </a:t>
            </a:r>
            <a:r>
              <a:rPr lang="en-US" sz="5400" dirty="0">
                <a:solidFill>
                  <a:schemeClr val="accent5"/>
                </a:solidFill>
              </a:rPr>
              <a:t>Proxy Server &amp; Client</a:t>
            </a:r>
            <a:endParaRPr lang="en-IN" sz="5400" dirty="0">
              <a:solidFill>
                <a:schemeClr val="accent5"/>
              </a:solidFill>
            </a:endParaRPr>
          </a:p>
        </p:txBody>
      </p:sp>
      <p:sp>
        <p:nvSpPr>
          <p:cNvPr id="4" name="Flowchart: Terminator 3">
            <a:extLst>
              <a:ext uri="{FF2B5EF4-FFF2-40B4-BE49-F238E27FC236}">
                <a16:creationId xmlns:a16="http://schemas.microsoft.com/office/drawing/2014/main" id="{EFD45EF2-B5FE-2B90-E187-D7C02D7E6C78}"/>
              </a:ext>
            </a:extLst>
          </p:cNvPr>
          <p:cNvSpPr/>
          <p:nvPr/>
        </p:nvSpPr>
        <p:spPr>
          <a:xfrm>
            <a:off x="12604830" y="7743463"/>
            <a:ext cx="1944547" cy="405114"/>
          </a:xfrm>
          <a:prstGeom prst="flowChartTerminator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8AEDDA-399B-B708-78D0-B972A2151C94}"/>
              </a:ext>
            </a:extLst>
          </p:cNvPr>
          <p:cNvSpPr txBox="1"/>
          <p:nvPr/>
        </p:nvSpPr>
        <p:spPr>
          <a:xfrm>
            <a:off x="671333" y="3356658"/>
            <a:ext cx="627301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5"/>
                </a:solidFill>
              </a:rPr>
              <a:t>Presented By:</a:t>
            </a:r>
          </a:p>
          <a:p>
            <a:r>
              <a:rPr lang="en-US" sz="2400" dirty="0">
                <a:solidFill>
                  <a:schemeClr val="accent5"/>
                </a:solidFill>
              </a:rPr>
              <a:t>Jetty Subhash(AP23110010787)</a:t>
            </a:r>
          </a:p>
          <a:p>
            <a:r>
              <a:rPr lang="en-US" sz="2400" dirty="0">
                <a:solidFill>
                  <a:schemeClr val="accent5"/>
                </a:solidFill>
              </a:rPr>
              <a:t>Munagala Poorna Ravi Teja(AP23110010733)</a:t>
            </a:r>
          </a:p>
          <a:p>
            <a:r>
              <a:rPr lang="en-US" sz="2400" dirty="0" err="1">
                <a:solidFill>
                  <a:schemeClr val="accent5"/>
                </a:solidFill>
              </a:rPr>
              <a:t>Byraju</a:t>
            </a:r>
            <a:r>
              <a:rPr lang="en-US" sz="2400" dirty="0">
                <a:solidFill>
                  <a:schemeClr val="accent5"/>
                </a:solidFill>
              </a:rPr>
              <a:t> Guna Vardhan (AP23110010744)</a:t>
            </a:r>
          </a:p>
          <a:p>
            <a:r>
              <a:rPr lang="en-US" sz="2400" dirty="0">
                <a:solidFill>
                  <a:schemeClr val="accent5"/>
                </a:solidFill>
              </a:rPr>
              <a:t>K </a:t>
            </a:r>
            <a:r>
              <a:rPr lang="en-US" sz="2400" dirty="0" err="1">
                <a:solidFill>
                  <a:schemeClr val="accent5"/>
                </a:solidFill>
              </a:rPr>
              <a:t>Jesweer</a:t>
            </a:r>
            <a:r>
              <a:rPr lang="en-US" sz="2400" dirty="0">
                <a:solidFill>
                  <a:schemeClr val="accent5"/>
                </a:solidFill>
              </a:rPr>
              <a:t>(Ap23110010054)</a:t>
            </a:r>
          </a:p>
          <a:p>
            <a:r>
              <a:rPr lang="en-US" sz="2400" dirty="0">
                <a:solidFill>
                  <a:schemeClr val="accent5"/>
                </a:solidFill>
              </a:rPr>
              <a:t>Oruganti Sumanth(AP23110010787)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C1B277-B45B-D385-A138-AC554BAC6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436" y="2088398"/>
            <a:ext cx="8072619" cy="542357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251007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Networking OS Project: Client-Server with Proxy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267795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This project delves into the fundamentals of Operating Systems through a practical networking application. We implement a robust </a:t>
            </a:r>
            <a:r>
              <a:rPr lang="en-US" sz="175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Client–Server model</a:t>
            </a: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enhanced with an optional </a:t>
            </a:r>
            <a:r>
              <a:rPr lang="en-US" sz="175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Proxy layer</a:t>
            </a: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showcasing essential OS concepts in action.</a:t>
            </a:r>
            <a:endParaRPr lang="en-US" sz="1750" dirty="0"/>
          </a:p>
        </p:txBody>
      </p:sp>
      <p:sp>
        <p:nvSpPr>
          <p:cNvPr id="7" name="Flowchart: Terminator 6">
            <a:extLst>
              <a:ext uri="{FF2B5EF4-FFF2-40B4-BE49-F238E27FC236}">
                <a16:creationId xmlns:a16="http://schemas.microsoft.com/office/drawing/2014/main" id="{5F47F5A8-DD3E-F0FE-F5B5-4EA786AD5D62}"/>
              </a:ext>
            </a:extLst>
          </p:cNvPr>
          <p:cNvSpPr/>
          <p:nvPr/>
        </p:nvSpPr>
        <p:spPr>
          <a:xfrm>
            <a:off x="12188142" y="7743463"/>
            <a:ext cx="2338086" cy="405114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67A5D71-C29A-DBD4-5E17-8424013C4D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3" y="2269711"/>
            <a:ext cx="6099858" cy="369017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9486" y="739140"/>
            <a:ext cx="7845028" cy="1159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Problem Statement: Building a Reliable Communication System</a:t>
            </a:r>
            <a:endParaRPr lang="en-US" sz="3650" dirty="0"/>
          </a:p>
        </p:txBody>
      </p:sp>
      <p:sp>
        <p:nvSpPr>
          <p:cNvPr id="4" name="Shape 1"/>
          <p:cNvSpPr/>
          <p:nvPr/>
        </p:nvSpPr>
        <p:spPr>
          <a:xfrm>
            <a:off x="649486" y="2177415"/>
            <a:ext cx="7845028" cy="1114901"/>
          </a:xfrm>
          <a:prstGeom prst="roundRect">
            <a:avLst>
              <a:gd name="adj" fmla="val 9842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5C1E2"/>
            </a:solidFill>
            <a:prstDash val="solid"/>
          </a:ln>
          <a:effectLst>
            <a:outerShdw dist="1651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26626" y="2177415"/>
            <a:ext cx="91440" cy="1114901"/>
          </a:xfrm>
          <a:prstGeom prst="roundRect">
            <a:avLst>
              <a:gd name="adj" fmla="val 182664"/>
            </a:avLst>
          </a:prstGeom>
          <a:solidFill>
            <a:srgbClr val="A2B9F9"/>
          </a:solidFill>
          <a:ln/>
        </p:spPr>
      </p:sp>
      <p:sp>
        <p:nvSpPr>
          <p:cNvPr id="6" name="Text 3"/>
          <p:cNvSpPr/>
          <p:nvPr/>
        </p:nvSpPr>
        <p:spPr>
          <a:xfrm>
            <a:off x="926425" y="2385774"/>
            <a:ext cx="3062049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Client-Server Communication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26425" y="2787015"/>
            <a:ext cx="7359729" cy="296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Design a system enabling reliable message exchange between a client and a server.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49486" y="3477816"/>
            <a:ext cx="7845028" cy="1114901"/>
          </a:xfrm>
          <a:prstGeom prst="roundRect">
            <a:avLst>
              <a:gd name="adj" fmla="val 9842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5C1E2"/>
            </a:solidFill>
            <a:prstDash val="solid"/>
          </a:ln>
          <a:effectLst>
            <a:outerShdw dist="1651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26626" y="3477816"/>
            <a:ext cx="91440" cy="1114901"/>
          </a:xfrm>
          <a:prstGeom prst="roundRect">
            <a:avLst>
              <a:gd name="adj" fmla="val 182664"/>
            </a:avLst>
          </a:prstGeom>
          <a:solidFill>
            <a:srgbClr val="A2B9F9"/>
          </a:solidFill>
          <a:ln/>
        </p:spPr>
      </p:sp>
      <p:sp>
        <p:nvSpPr>
          <p:cNvPr id="10" name="Text 7"/>
          <p:cNvSpPr/>
          <p:nvPr/>
        </p:nvSpPr>
        <p:spPr>
          <a:xfrm>
            <a:off x="926425" y="3686175"/>
            <a:ext cx="2381726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Optional Proxy Routing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26425" y="4087416"/>
            <a:ext cx="7359729" cy="296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Integrate a proxy layer for traffic monitoring, analysis, and enhanced security.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49486" y="4778216"/>
            <a:ext cx="7845028" cy="1114901"/>
          </a:xfrm>
          <a:prstGeom prst="roundRect">
            <a:avLst>
              <a:gd name="adj" fmla="val 9842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5C1E2"/>
            </a:solidFill>
            <a:prstDash val="solid"/>
          </a:ln>
          <a:effectLst>
            <a:outerShdw dist="1651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6626" y="4778216"/>
            <a:ext cx="91440" cy="1114901"/>
          </a:xfrm>
          <a:prstGeom prst="roundRect">
            <a:avLst>
              <a:gd name="adj" fmla="val 182664"/>
            </a:avLst>
          </a:prstGeom>
          <a:solidFill>
            <a:srgbClr val="A2B9F9"/>
          </a:solidFill>
          <a:ln/>
        </p:spPr>
      </p:sp>
      <p:sp>
        <p:nvSpPr>
          <p:cNvPr id="14" name="Text 11"/>
          <p:cNvSpPr/>
          <p:nvPr/>
        </p:nvSpPr>
        <p:spPr>
          <a:xfrm>
            <a:off x="926425" y="4986576"/>
            <a:ext cx="2915722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Real-Time Request Handling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26425" y="5387816"/>
            <a:ext cx="7359729" cy="296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Ensure the system can process and display requests and responses in real-time.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49486" y="6078617"/>
            <a:ext cx="7845028" cy="1411843"/>
          </a:xfrm>
          <a:prstGeom prst="roundRect">
            <a:avLst>
              <a:gd name="adj" fmla="val 7772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5C1E2"/>
            </a:solidFill>
            <a:prstDash val="solid"/>
          </a:ln>
          <a:effectLst>
            <a:outerShdw dist="1651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26626" y="6078617"/>
            <a:ext cx="91440" cy="1411843"/>
          </a:xfrm>
          <a:prstGeom prst="roundRect">
            <a:avLst>
              <a:gd name="adj" fmla="val 182664"/>
            </a:avLst>
          </a:prstGeom>
          <a:solidFill>
            <a:srgbClr val="A2B9F9"/>
          </a:solidFill>
          <a:ln/>
        </p:spPr>
      </p:sp>
      <p:sp>
        <p:nvSpPr>
          <p:cNvPr id="18" name="Text 15"/>
          <p:cNvSpPr/>
          <p:nvPr/>
        </p:nvSpPr>
        <p:spPr>
          <a:xfrm>
            <a:off x="926425" y="6286976"/>
            <a:ext cx="2319814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Modular Design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926425" y="6688217"/>
            <a:ext cx="7359729" cy="593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Maintain clear separation of concerns: GUI, backend, server, and proxy logic for scalability.</a:t>
            </a:r>
            <a:endParaRPr lang="en-US" sz="1450" dirty="0"/>
          </a:p>
        </p:txBody>
      </p:sp>
      <p:pic>
        <p:nvPicPr>
          <p:cNvPr id="3074" name="Picture 2" descr="Operating system | Definition, functions, and structure - IONOS">
            <a:extLst>
              <a:ext uri="{FF2B5EF4-FFF2-40B4-BE49-F238E27FC236}">
                <a16:creationId xmlns:a16="http://schemas.microsoft.com/office/drawing/2014/main" id="{1D79239B-1D84-E8DC-0A51-711099C543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2873" y="2007518"/>
            <a:ext cx="5729468" cy="5541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Flowchart: Terminator 19">
            <a:extLst>
              <a:ext uri="{FF2B5EF4-FFF2-40B4-BE49-F238E27FC236}">
                <a16:creationId xmlns:a16="http://schemas.microsoft.com/office/drawing/2014/main" id="{AC542F86-1010-E2CB-FEC6-7CCD44687D18}"/>
              </a:ext>
            </a:extLst>
          </p:cNvPr>
          <p:cNvSpPr/>
          <p:nvPr/>
        </p:nvSpPr>
        <p:spPr>
          <a:xfrm>
            <a:off x="12627980" y="7743463"/>
            <a:ext cx="1898248" cy="370390"/>
          </a:xfrm>
          <a:prstGeom prst="flowChartTerminator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52" y="565547"/>
            <a:ext cx="10424636" cy="642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System Architecture: Three Core Components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1502" y="1619607"/>
            <a:ext cx="7747278" cy="459807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21333" y="2743453"/>
            <a:ext cx="659525" cy="6595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833737" y="5151132"/>
            <a:ext cx="1925814" cy="370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Server</a:t>
            </a:r>
            <a:endParaRPr lang="en-US" sz="13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06852" y="2744690"/>
            <a:ext cx="659525" cy="65952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406684" y="5151132"/>
            <a:ext cx="1925814" cy="370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Proxy</a:t>
            </a:r>
            <a:endParaRPr lang="en-US" sz="13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579800" y="2744690"/>
            <a:ext cx="659525" cy="65952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3940060" y="5151132"/>
            <a:ext cx="1925814" cy="370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Client</a:t>
            </a:r>
            <a:endParaRPr lang="en-US" sz="1350" dirty="0"/>
          </a:p>
        </p:txBody>
      </p:sp>
      <p:sp>
        <p:nvSpPr>
          <p:cNvPr id="10" name="Text 4"/>
          <p:cNvSpPr/>
          <p:nvPr/>
        </p:nvSpPr>
        <p:spPr>
          <a:xfrm>
            <a:off x="719852" y="6449020"/>
            <a:ext cx="13190696" cy="329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Client Module:</a:t>
            </a:r>
            <a:r>
              <a:rPr lang="en-US" sz="16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Initiates communication, sending requests and receiving responses from the server.</a:t>
            </a:r>
            <a:endParaRPr lang="en-US" sz="1600" dirty="0"/>
          </a:p>
        </p:txBody>
      </p:sp>
      <p:sp>
        <p:nvSpPr>
          <p:cNvPr id="11" name="Text 5"/>
          <p:cNvSpPr/>
          <p:nvPr/>
        </p:nvSpPr>
        <p:spPr>
          <a:xfrm>
            <a:off x="719852" y="6850023"/>
            <a:ext cx="13190696" cy="329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Server Module:</a:t>
            </a:r>
            <a:r>
              <a:rPr lang="en-US" sz="16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The backbone, responsible for processing all incoming requests and generating appropriate replies.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719852" y="7251025"/>
            <a:ext cx="13190696" cy="329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Proxy Module:</a:t>
            </a:r>
            <a:r>
              <a:rPr lang="en-US" sz="16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An intelligent intermediary, optionally forwarding traffic and offering a layer for monitoring or manipulation.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719852" y="7811453"/>
            <a:ext cx="13190696" cy="329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 communication between these modules is facilitated using reliable </a:t>
            </a:r>
            <a:r>
              <a:rPr lang="en-US" sz="160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TCP sockets</a:t>
            </a:r>
            <a:r>
              <a:rPr lang="en-US" sz="16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ensuring data integrity and ordered delivery.</a:t>
            </a:r>
            <a:endParaRPr lang="en-US" sz="1600" dirty="0"/>
          </a:p>
        </p:txBody>
      </p:sp>
      <p:sp>
        <p:nvSpPr>
          <p:cNvPr id="14" name="Flowchart: Terminator 13">
            <a:extLst>
              <a:ext uri="{FF2B5EF4-FFF2-40B4-BE49-F238E27FC236}">
                <a16:creationId xmlns:a16="http://schemas.microsoft.com/office/drawing/2014/main" id="{735762CC-77D4-A601-1F6F-A2545880E5BB}"/>
              </a:ext>
            </a:extLst>
          </p:cNvPr>
          <p:cNvSpPr/>
          <p:nvPr/>
        </p:nvSpPr>
        <p:spPr>
          <a:xfrm>
            <a:off x="12790025" y="7662441"/>
            <a:ext cx="1713053" cy="478101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4607" y="522208"/>
            <a:ext cx="8712756" cy="593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Workflow Explanation: A Journey of Data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607" y="1495187"/>
            <a:ext cx="949404" cy="11393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03797" y="1684973"/>
            <a:ext cx="2373749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Client Sends Message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803797" y="2095500"/>
            <a:ext cx="12161996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user initiates communication via the GUI.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607" y="2634496"/>
            <a:ext cx="949404" cy="113930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803797" y="2824282"/>
            <a:ext cx="2373749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Proxy Interception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1803797" y="3234809"/>
            <a:ext cx="12161996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 enabled, the proxy captures the message for logging or modification.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607" y="3773805"/>
            <a:ext cx="949404" cy="113930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803797" y="3963591"/>
            <a:ext cx="2373749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Server Processing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1803797" y="4374118"/>
            <a:ext cx="12161996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server receives, processes the request, and prepares a reply.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607" y="4913114"/>
            <a:ext cx="949404" cy="113930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803797" y="5102900"/>
            <a:ext cx="2373749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Reply via Proxy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1803797" y="5513427"/>
            <a:ext cx="12161996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server's reply travels back through the proxy (if active).</a:t>
            </a:r>
            <a:endParaRPr lang="en-US" sz="14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607" y="6052423"/>
            <a:ext cx="949404" cy="113930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803797" y="6242209"/>
            <a:ext cx="2373749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GUI Displays Result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1803797" y="6652736"/>
            <a:ext cx="12161996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client's interface presents the final response to the user.</a:t>
            </a:r>
            <a:endParaRPr lang="en-US" sz="1450" dirty="0"/>
          </a:p>
        </p:txBody>
      </p:sp>
      <p:sp>
        <p:nvSpPr>
          <p:cNvPr id="18" name="Text 11"/>
          <p:cNvSpPr/>
          <p:nvPr/>
        </p:nvSpPr>
        <p:spPr>
          <a:xfrm>
            <a:off x="664607" y="7405330"/>
            <a:ext cx="13301186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This demonstrates a clear, full-duplex communication pathway.</a:t>
            </a:r>
            <a:endParaRPr lang="en-US" sz="1450" dirty="0"/>
          </a:p>
        </p:txBody>
      </p:sp>
      <p:sp>
        <p:nvSpPr>
          <p:cNvPr id="19" name="Flowchart: Terminator 18">
            <a:extLst>
              <a:ext uri="{FF2B5EF4-FFF2-40B4-BE49-F238E27FC236}">
                <a16:creationId xmlns:a16="http://schemas.microsoft.com/office/drawing/2014/main" id="{01AEC00B-8DC5-671D-B1E1-120C0BBAAFF6}"/>
              </a:ext>
            </a:extLst>
          </p:cNvPr>
          <p:cNvSpPr/>
          <p:nvPr/>
        </p:nvSpPr>
        <p:spPr>
          <a:xfrm>
            <a:off x="12824749" y="7709178"/>
            <a:ext cx="1689904" cy="44874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2612"/>
            <a:ext cx="1154930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Client Module: User's Gateway to the Network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45625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Socket Creation:</a:t>
            </a: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Manages the establishment of network connections.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587823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Input/Output:</a:t>
            </a: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Sends user-generated data and receives server responses.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392924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GUI Integration:</a:t>
            </a: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Seamlessly connects with the graphical user interface for an intuitive experience.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198025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Error Handling:</a:t>
            </a: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Implements mechanisms to manage disconnections and network issues gracefully.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127903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client is designed to be robust and user-friendly, abstracting complex network operations.</a:t>
            </a:r>
            <a:endParaRPr lang="en-US" sz="1750" dirty="0"/>
          </a:p>
        </p:txBody>
      </p:sp>
      <p:sp>
        <p:nvSpPr>
          <p:cNvPr id="9" name="Flowchart: Terminator 8">
            <a:extLst>
              <a:ext uri="{FF2B5EF4-FFF2-40B4-BE49-F238E27FC236}">
                <a16:creationId xmlns:a16="http://schemas.microsoft.com/office/drawing/2014/main" id="{29FED052-3C4A-C972-1270-3E207CE86BFC}"/>
              </a:ext>
            </a:extLst>
          </p:cNvPr>
          <p:cNvSpPr/>
          <p:nvPr/>
        </p:nvSpPr>
        <p:spPr>
          <a:xfrm>
            <a:off x="12709791" y="7812911"/>
            <a:ext cx="1886673" cy="289367"/>
          </a:xfrm>
          <a:prstGeom prst="flowChartTerminator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09D0EE0-6081-01FC-5863-3415D67D1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4138" y="2101101"/>
            <a:ext cx="6232326" cy="40352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6730" y="508516"/>
            <a:ext cx="5633799" cy="452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Server Module: The Processing Hub</a:t>
            </a:r>
            <a:endParaRPr lang="en-US" sz="2850" dirty="0"/>
          </a:p>
        </p:txBody>
      </p:sp>
      <p:sp>
        <p:nvSpPr>
          <p:cNvPr id="4" name="Shape 1"/>
          <p:cNvSpPr/>
          <p:nvPr/>
        </p:nvSpPr>
        <p:spPr>
          <a:xfrm>
            <a:off x="506730" y="1178243"/>
            <a:ext cx="8130540" cy="1428512"/>
          </a:xfrm>
          <a:prstGeom prst="roundRect">
            <a:avLst>
              <a:gd name="adj" fmla="val 9124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1270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59130" y="1330643"/>
            <a:ext cx="434340" cy="434340"/>
          </a:xfrm>
          <a:prstGeom prst="roundRect">
            <a:avLst>
              <a:gd name="adj" fmla="val 21050526"/>
            </a:avLst>
          </a:prstGeom>
          <a:solidFill>
            <a:srgbClr val="A2B9F9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8550" y="1450062"/>
            <a:ext cx="195382" cy="19538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9130" y="1909763"/>
            <a:ext cx="1810107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Listening Socket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59130" y="2222778"/>
            <a:ext cx="7825740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Always ready to accept incoming client connections.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06730" y="2751534"/>
            <a:ext cx="8130540" cy="1428512"/>
          </a:xfrm>
          <a:prstGeom prst="roundRect">
            <a:avLst>
              <a:gd name="adj" fmla="val 9124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1270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659130" y="2903934"/>
            <a:ext cx="434340" cy="434340"/>
          </a:xfrm>
          <a:prstGeom prst="roundRect">
            <a:avLst>
              <a:gd name="adj" fmla="val 21050526"/>
            </a:avLst>
          </a:prstGeom>
          <a:solidFill>
            <a:srgbClr val="A2B9F9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8550" y="3023354"/>
            <a:ext cx="195382" cy="19538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59130" y="3483054"/>
            <a:ext cx="1810107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Connection Handling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659130" y="3796070"/>
            <a:ext cx="7825740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Efficiently manages multiple concurrent client connections.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06730" y="4324826"/>
            <a:ext cx="8130540" cy="1428512"/>
          </a:xfrm>
          <a:prstGeom prst="roundRect">
            <a:avLst>
              <a:gd name="adj" fmla="val 9124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1270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659130" y="4477226"/>
            <a:ext cx="434340" cy="434340"/>
          </a:xfrm>
          <a:prstGeom prst="roundRect">
            <a:avLst>
              <a:gd name="adj" fmla="val 21050526"/>
            </a:avLst>
          </a:prstGeom>
          <a:solidFill>
            <a:srgbClr val="A2B9F9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8550" y="4596646"/>
            <a:ext cx="195382" cy="19538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9130" y="5056346"/>
            <a:ext cx="1810107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Message Processing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659130" y="5369362"/>
            <a:ext cx="7825740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Analyzes and responds to diverse incoming messages.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06730" y="5898118"/>
            <a:ext cx="8130540" cy="1428512"/>
          </a:xfrm>
          <a:prstGeom prst="roundRect">
            <a:avLst>
              <a:gd name="adj" fmla="val 9124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1270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659130" y="6050518"/>
            <a:ext cx="434340" cy="434340"/>
          </a:xfrm>
          <a:prstGeom prst="roundRect">
            <a:avLst>
              <a:gd name="adj" fmla="val 21050526"/>
            </a:avLst>
          </a:prstGeom>
          <a:solidFill>
            <a:srgbClr val="A2B9F9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8550" y="6169938"/>
            <a:ext cx="195382" cy="19538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59130" y="6629638"/>
            <a:ext cx="2353508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Acknowledgment &amp; Response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659130" y="6942653"/>
            <a:ext cx="7825740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Ensures reliable communication by sending appropriate replies.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506730" y="7489507"/>
            <a:ext cx="8130540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This module demonstrates fundamental OS concepts like concurrency and robust request handling under varying loads.</a:t>
            </a:r>
            <a:endParaRPr lang="en-US" sz="11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86C3156-FAA5-3BA8-D805-06BE8ED8BC2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56690" y="1178244"/>
            <a:ext cx="5873710" cy="6148386"/>
          </a:xfrm>
          <a:prstGeom prst="rect">
            <a:avLst/>
          </a:prstGeom>
        </p:spPr>
      </p:pic>
      <p:sp>
        <p:nvSpPr>
          <p:cNvPr id="26" name="Flowchart: Terminator 25">
            <a:extLst>
              <a:ext uri="{FF2B5EF4-FFF2-40B4-BE49-F238E27FC236}">
                <a16:creationId xmlns:a16="http://schemas.microsoft.com/office/drawing/2014/main" id="{F575FFC0-C9FE-136B-2A2F-D59C8377DAB5}"/>
              </a:ext>
            </a:extLst>
          </p:cNvPr>
          <p:cNvSpPr/>
          <p:nvPr/>
        </p:nvSpPr>
        <p:spPr>
          <a:xfrm>
            <a:off x="12847899" y="7721084"/>
            <a:ext cx="1689904" cy="415919"/>
          </a:xfrm>
          <a:prstGeom prst="flowChartTerminator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338" y="481132"/>
            <a:ext cx="7981117" cy="546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Proxy Module: The Network Intermediary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7315199" y="1816967"/>
            <a:ext cx="6489383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Intermediate Router:</a:t>
            </a:r>
            <a:r>
              <a:rPr lang="en-US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Sits between client and server, routing traffic.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315198" y="2606067"/>
            <a:ext cx="6489383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Traffic Capture:</a:t>
            </a:r>
            <a:r>
              <a:rPr lang="en-US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Logs all data passing through for debugging and</a:t>
            </a:r>
          </a:p>
          <a:p>
            <a:pPr algn="l">
              <a:lnSpc>
                <a:spcPts val="2200"/>
              </a:lnSpc>
              <a:buSzPct val="100000"/>
            </a:pPr>
            <a:r>
              <a:rPr lang="en-US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      analysis.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315199" y="3596464"/>
            <a:ext cx="6489383" cy="568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OS Concepts:</a:t>
            </a:r>
            <a:r>
              <a:rPr lang="en-US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Illustrates buffering, intelligent routing, and dynamic port management.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282775" y="4570540"/>
            <a:ext cx="6735286" cy="114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Network Control:</a:t>
            </a:r>
            <a:r>
              <a:rPr lang="en-US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Provides insights into flow control and </a:t>
            </a:r>
          </a:p>
          <a:p>
            <a:pPr algn="l">
              <a:lnSpc>
                <a:spcPts val="2200"/>
              </a:lnSpc>
              <a:buSzPct val="100000"/>
            </a:pPr>
            <a:r>
              <a:rPr lang="en-US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     network behavior.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12338" y="8370094"/>
            <a:ext cx="13405723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proxy is invaluable for understanding network security, performance monitoring, and traffic management in operating systems.</a:t>
            </a:r>
            <a:endParaRPr lang="en-US" sz="1350" dirty="0"/>
          </a:p>
        </p:txBody>
      </p:sp>
      <p:sp>
        <p:nvSpPr>
          <p:cNvPr id="9" name="Flowchart: Terminator 8">
            <a:extLst>
              <a:ext uri="{FF2B5EF4-FFF2-40B4-BE49-F238E27FC236}">
                <a16:creationId xmlns:a16="http://schemas.microsoft.com/office/drawing/2014/main" id="{3C4B0CF8-5250-D674-517A-5AC09513F71C}"/>
              </a:ext>
            </a:extLst>
          </p:cNvPr>
          <p:cNvSpPr/>
          <p:nvPr/>
        </p:nvSpPr>
        <p:spPr>
          <a:xfrm>
            <a:off x="12813175" y="7766613"/>
            <a:ext cx="1724628" cy="370390"/>
          </a:xfrm>
          <a:prstGeom prst="flowChartTerminator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A8A10D3-9679-B048-1D4F-9093677C2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338" y="1395549"/>
            <a:ext cx="6096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112907" y="617934"/>
            <a:ext cx="7890986" cy="1118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Backend Logic: The Engine of Communication</a:t>
            </a:r>
            <a:endParaRPr lang="en-US" sz="3500" dirty="0"/>
          </a:p>
        </p:txBody>
      </p:sp>
      <p:sp>
        <p:nvSpPr>
          <p:cNvPr id="4" name="Shape 1"/>
          <p:cNvSpPr/>
          <p:nvPr/>
        </p:nvSpPr>
        <p:spPr>
          <a:xfrm>
            <a:off x="6112907" y="2005132"/>
            <a:ext cx="715923" cy="1073944"/>
          </a:xfrm>
          <a:prstGeom prst="roundRect">
            <a:avLst>
              <a:gd name="adj" fmla="val 360047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1651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336625" y="2374344"/>
            <a:ext cx="268486" cy="335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7007781" y="2184083"/>
            <a:ext cx="2590443" cy="27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Abstracts Communication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007781" y="2571036"/>
            <a:ext cx="6996112" cy="286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Manages the intricacies of connection establishment, sending, and receiving data.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12907" y="3258026"/>
            <a:ext cx="715923" cy="1073944"/>
          </a:xfrm>
          <a:prstGeom prst="roundRect">
            <a:avLst>
              <a:gd name="adj" fmla="val 360047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1651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336625" y="3627239"/>
            <a:ext cx="268486" cy="335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2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7007781" y="3436977"/>
            <a:ext cx="2237542" cy="27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Responsive GUI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7007781" y="3823930"/>
            <a:ext cx="6996112" cy="286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Ensures the user interface remains fluid and unblocked.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112907" y="4510921"/>
            <a:ext cx="715923" cy="1073944"/>
          </a:xfrm>
          <a:prstGeom prst="roundRect">
            <a:avLst>
              <a:gd name="adj" fmla="val 360047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1651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336625" y="4880134"/>
            <a:ext cx="268486" cy="335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3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7007781" y="4689872"/>
            <a:ext cx="2237542" cy="27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Modular Design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7007781" y="5076825"/>
            <a:ext cx="6996112" cy="286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Enhances system maintainability and future extensibility.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112907" y="5763816"/>
            <a:ext cx="715923" cy="1073944"/>
          </a:xfrm>
          <a:prstGeom prst="roundRect">
            <a:avLst>
              <a:gd name="adj" fmla="val 360047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1651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336625" y="6133028"/>
            <a:ext cx="268486" cy="335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4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7007781" y="5942767"/>
            <a:ext cx="2237542" cy="27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Robust Error Handling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7007781" y="6329720"/>
            <a:ext cx="6996112" cy="286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Includes mechanisms for reconnection attempts and exception management.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112907" y="7039094"/>
            <a:ext cx="7890986" cy="57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backend (</a:t>
            </a:r>
            <a:r>
              <a:rPr lang="en-US" sz="1400" dirty="0">
                <a:solidFill>
                  <a:srgbClr val="66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proxy_client_backend.py</a:t>
            </a:r>
            <a:r>
              <a:rPr lang="en-US" sz="14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) is crucial for a stable and efficient system, separating complex operations from presentation.</a:t>
            </a:r>
            <a:endParaRPr lang="en-US" sz="1400" dirty="0"/>
          </a:p>
        </p:txBody>
      </p:sp>
      <p:sp>
        <p:nvSpPr>
          <p:cNvPr id="22" name="Flowchart: Terminator 21">
            <a:extLst>
              <a:ext uri="{FF2B5EF4-FFF2-40B4-BE49-F238E27FC236}">
                <a16:creationId xmlns:a16="http://schemas.microsoft.com/office/drawing/2014/main" id="{74A1543A-2213-3D21-06C7-2846344065F8}"/>
              </a:ext>
            </a:extLst>
          </p:cNvPr>
          <p:cNvSpPr/>
          <p:nvPr/>
        </p:nvSpPr>
        <p:spPr>
          <a:xfrm>
            <a:off x="12674279" y="7611547"/>
            <a:ext cx="1828800" cy="540185"/>
          </a:xfrm>
          <a:prstGeom prst="flowChartTerminator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172" name="Picture 4" descr="What Is an Operating System? Discover the Common OS Types | BSN">
            <a:extLst>
              <a:ext uri="{FF2B5EF4-FFF2-40B4-BE49-F238E27FC236}">
                <a16:creationId xmlns:a16="http://schemas.microsoft.com/office/drawing/2014/main" id="{706BA147-A5D4-BBA1-F0BB-A81AF74AA9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76" y="2192714"/>
            <a:ext cx="5933956" cy="4029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3768" y="490061"/>
            <a:ext cx="8679894" cy="556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Output &amp; Demonstration: Seeing is Believing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528525" y="2362885"/>
            <a:ext cx="7420637" cy="556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Successful Connections:</a:t>
            </a:r>
            <a:r>
              <a:rPr lang="en-US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Clear messages confirming established links.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2099" y="3099917"/>
            <a:ext cx="6474023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Live Flow:</a:t>
            </a:r>
            <a:r>
              <a:rPr lang="en-US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Real-time display of message requests and responses.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28525" y="1543917"/>
            <a:ext cx="6474023" cy="5463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Proxy Logs:</a:t>
            </a:r>
            <a:r>
              <a:rPr lang="en-US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Detailed records of all routed network traffic.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28525" y="3990387"/>
            <a:ext cx="7015527" cy="570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Error Feedback:</a:t>
            </a:r>
            <a:r>
              <a:rPr lang="en-US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Informative messages for connection failures or incorrect configurations.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28525" y="5121281"/>
            <a:ext cx="6474023" cy="570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User-Friendly GUI:</a:t>
            </a:r>
            <a:r>
              <a:rPr lang="en-US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An intuitive interface simplifying interaction and visualization.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23768" y="8389739"/>
            <a:ext cx="13382863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demonstration provides visual proof of the system's functionality and robustness.</a:t>
            </a:r>
            <a:endParaRPr lang="en-US" sz="1400" dirty="0"/>
          </a:p>
        </p:txBody>
      </p:sp>
      <p:pic>
        <p:nvPicPr>
          <p:cNvPr id="5122" name="Picture 2" descr="Operating system - Free computer icons">
            <a:extLst>
              <a:ext uri="{FF2B5EF4-FFF2-40B4-BE49-F238E27FC236}">
                <a16:creationId xmlns:a16="http://schemas.microsoft.com/office/drawing/2014/main" id="{068A7008-0266-AFDD-0EB8-8E17225435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6952" y="1253318"/>
            <a:ext cx="5674923" cy="4753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Flowchart: Terminator 9">
            <a:extLst>
              <a:ext uri="{FF2B5EF4-FFF2-40B4-BE49-F238E27FC236}">
                <a16:creationId xmlns:a16="http://schemas.microsoft.com/office/drawing/2014/main" id="{997C45FE-0EE9-9C68-BBA8-33B098501EBC}"/>
              </a:ext>
            </a:extLst>
          </p:cNvPr>
          <p:cNvSpPr/>
          <p:nvPr/>
        </p:nvSpPr>
        <p:spPr>
          <a:xfrm>
            <a:off x="12732151" y="7684014"/>
            <a:ext cx="1805651" cy="520861"/>
          </a:xfrm>
          <a:prstGeom prst="flowChartTerminator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06041" y="554831"/>
            <a:ext cx="6244352" cy="6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Applications &amp; Future Scope</a:t>
            </a:r>
            <a:endParaRPr lang="en-US" sz="3950" dirty="0"/>
          </a:p>
        </p:txBody>
      </p:sp>
      <p:sp>
        <p:nvSpPr>
          <p:cNvPr id="4" name="Shape 1"/>
          <p:cNvSpPr/>
          <p:nvPr/>
        </p:nvSpPr>
        <p:spPr>
          <a:xfrm>
            <a:off x="706041" y="1487805"/>
            <a:ext cx="7731919" cy="1177647"/>
          </a:xfrm>
          <a:prstGeom prst="roundRect">
            <a:avLst>
              <a:gd name="adj" fmla="val 41118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1778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915353" y="1697117"/>
            <a:ext cx="2521982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Network Simulation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915353" y="2133243"/>
            <a:ext cx="7313295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Ideal for modeling and testing network behaviors and protocols.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706041" y="2867144"/>
            <a:ext cx="7731919" cy="1177647"/>
          </a:xfrm>
          <a:prstGeom prst="roundRect">
            <a:avLst>
              <a:gd name="adj" fmla="val 41118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1778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15353" y="3076456"/>
            <a:ext cx="2890837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OS Communication Demo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915353" y="3512582"/>
            <a:ext cx="7313295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practical example for teaching inter-process communication.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706041" y="4246483"/>
            <a:ext cx="7731919" cy="1177647"/>
          </a:xfrm>
          <a:prstGeom prst="roundRect">
            <a:avLst>
              <a:gd name="adj" fmla="val 41118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1778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15353" y="4455795"/>
            <a:ext cx="2782729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Proxy &amp; Security Analysis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915353" y="4891921"/>
            <a:ext cx="7313295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Exploring network vulnerabilities and implementing security measures.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706041" y="5625822"/>
            <a:ext cx="7731919" cy="1177647"/>
          </a:xfrm>
          <a:prstGeom prst="roundRect">
            <a:avLst>
              <a:gd name="adj" fmla="val 41118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1778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15353" y="5835134"/>
            <a:ext cx="2521982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Lab Exercises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915353" y="6271260"/>
            <a:ext cx="7313295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hands-on tool for students to understand client-server dynamics.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706041" y="7030403"/>
            <a:ext cx="7731919" cy="645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This project provides a foundational understanding that can be expanded into more complex networking and operating system research.</a:t>
            </a:r>
            <a:endParaRPr lang="en-US" sz="1550" dirty="0"/>
          </a:p>
        </p:txBody>
      </p:sp>
      <p:pic>
        <p:nvPicPr>
          <p:cNvPr id="4098" name="Picture 2" descr="Operating System Tutorial - Studytonight">
            <a:extLst>
              <a:ext uri="{FF2B5EF4-FFF2-40B4-BE49-F238E27FC236}">
                <a16:creationId xmlns:a16="http://schemas.microsoft.com/office/drawing/2014/main" id="{DCBE90B6-9829-C05E-FE76-06B2E88CF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8893" y="1185267"/>
            <a:ext cx="5591507" cy="6095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Flowchart: Terminator 16">
            <a:extLst>
              <a:ext uri="{FF2B5EF4-FFF2-40B4-BE49-F238E27FC236}">
                <a16:creationId xmlns:a16="http://schemas.microsoft.com/office/drawing/2014/main" id="{7CA78411-A55C-C3AA-1C2C-A068382F995A}"/>
              </a:ext>
            </a:extLst>
          </p:cNvPr>
          <p:cNvSpPr/>
          <p:nvPr/>
        </p:nvSpPr>
        <p:spPr>
          <a:xfrm>
            <a:off x="12741821" y="7572026"/>
            <a:ext cx="1805651" cy="553401"/>
          </a:xfrm>
          <a:prstGeom prst="flowChartTerminator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7603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endParaRPr lang="en-US" sz="4450" dirty="0"/>
          </a:p>
        </p:txBody>
      </p:sp>
      <p:sp>
        <p:nvSpPr>
          <p:cNvPr id="3" name="Flowchart: Terminator 2">
            <a:extLst>
              <a:ext uri="{FF2B5EF4-FFF2-40B4-BE49-F238E27FC236}">
                <a16:creationId xmlns:a16="http://schemas.microsoft.com/office/drawing/2014/main" id="{87EDC9AA-85C7-2156-A88F-E10D5C85EF6B}"/>
              </a:ext>
            </a:extLst>
          </p:cNvPr>
          <p:cNvSpPr/>
          <p:nvPr/>
        </p:nvSpPr>
        <p:spPr>
          <a:xfrm>
            <a:off x="12662704" y="7650866"/>
            <a:ext cx="1863524" cy="474562"/>
          </a:xfrm>
          <a:prstGeom prst="flowChartTerminator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E4B281-D3C2-BB42-7F0E-D7C69D4CE98B}"/>
              </a:ext>
            </a:extLst>
          </p:cNvPr>
          <p:cNvSpPr txBox="1"/>
          <p:nvPr/>
        </p:nvSpPr>
        <p:spPr>
          <a:xfrm>
            <a:off x="4525784" y="3145691"/>
            <a:ext cx="53127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solidFill>
                  <a:schemeClr val="accent5"/>
                </a:solidFill>
              </a:rPr>
              <a:t>THANK YOU</a:t>
            </a:r>
            <a:endParaRPr lang="en-IN" sz="8000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776</Words>
  <Application>Microsoft Office PowerPoint</Application>
  <PresentationFormat>Custom</PresentationFormat>
  <Paragraphs>106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Outfit Medium</vt:lpstr>
      <vt:lpstr>Consolas</vt:lpstr>
      <vt:lpstr>IBM Plex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Supraja Jetty</cp:lastModifiedBy>
  <cp:revision>2</cp:revision>
  <dcterms:created xsi:type="dcterms:W3CDTF">2025-11-29T05:53:43Z</dcterms:created>
  <dcterms:modified xsi:type="dcterms:W3CDTF">2025-11-29T07:03:07Z</dcterms:modified>
</cp:coreProperties>
</file>